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d170587464fab" /><Relationship Type="http://schemas.openxmlformats.org/officeDocument/2006/relationships/extended-properties" Target="/docProps/app.xml" Id="R1160c0629e2b447e" /><Relationship Type="http://schemas.openxmlformats.org/officeDocument/2006/relationships/officeDocument" Target="/ppt/presentation.xml" Id="Rf7bfd024872045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69aa158d54449c"/>
  </p:sldMasterIdLst>
  <p:notesMasterIdLst>
    <p:notesMasterId xmlns:r="http://schemas.openxmlformats.org/officeDocument/2006/relationships" r:id="R535c2e19c85a4e95"/>
  </p:notesMasterIdLst>
  <p:sldIdLst>
    <p:sldId xmlns:r="http://schemas.openxmlformats.org/officeDocument/2006/relationships" id="256" r:id="Ra7e213980a5b4aed"/>
    <p:sldId xmlns:r="http://schemas.openxmlformats.org/officeDocument/2006/relationships" id="257" r:id="R2ca4d5340f4d4c21"/>
    <p:sldId xmlns:r="http://schemas.openxmlformats.org/officeDocument/2006/relationships" id="258" r:id="Rb030a531b0214e62"/>
    <p:sldId xmlns:r="http://schemas.openxmlformats.org/officeDocument/2006/relationships" id="259" r:id="R109ea3b63b49473c"/>
    <p:sldId xmlns:r="http://schemas.openxmlformats.org/officeDocument/2006/relationships" id="260" r:id="R2dbf7890618845f5"/>
    <p:sldId xmlns:r="http://schemas.openxmlformats.org/officeDocument/2006/relationships" id="261" r:id="R8dc32ec9c45f40ea"/>
    <p:sldId xmlns:r="http://schemas.openxmlformats.org/officeDocument/2006/relationships" id="262" r:id="R2d46d401767d445e"/>
    <p:sldId xmlns:r="http://schemas.openxmlformats.org/officeDocument/2006/relationships" id="263" r:id="Rb79386d729234722"/>
    <p:sldId xmlns:r="http://schemas.openxmlformats.org/officeDocument/2006/relationships" id="264" r:id="R7a50efeb932b4d82"/>
    <p:sldId xmlns:r="http://schemas.openxmlformats.org/officeDocument/2006/relationships" id="265" r:id="R2e9140d072734e88"/>
    <p:sldId xmlns:r="http://schemas.openxmlformats.org/officeDocument/2006/relationships" id="266" r:id="R76423cbc911d4d49"/>
    <p:sldId xmlns:r="http://schemas.openxmlformats.org/officeDocument/2006/relationships" id="267" r:id="R78c676b7e7444f51"/>
    <p:sldId xmlns:r="http://schemas.openxmlformats.org/officeDocument/2006/relationships" id="268" r:id="R25090d8f87cc46be"/>
    <p:sldId xmlns:r="http://schemas.openxmlformats.org/officeDocument/2006/relationships" id="269" r:id="R03ee219f43ce46cb"/>
    <p:sldId xmlns:r="http://schemas.openxmlformats.org/officeDocument/2006/relationships" id="270" r:id="Rbc6e7d46995047e9"/>
    <p:sldId xmlns:r="http://schemas.openxmlformats.org/officeDocument/2006/relationships" id="271" r:id="R965fde5b70e14bf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d1ec4778c1482d" /><Relationship Type="http://schemas.openxmlformats.org/officeDocument/2006/relationships/slideMaster" Target="/ppt/slideMasters/slideMaster1.xml" Id="Rc169aa158d54449c" /><Relationship Type="http://schemas.openxmlformats.org/officeDocument/2006/relationships/notesMaster" Target="/ppt/notesMasters/notesMaster1.xml" Id="R535c2e19c85a4e95" /><Relationship Type="http://schemas.openxmlformats.org/officeDocument/2006/relationships/presProps" Target="/ppt/presProps.xml" Id="Rc38ac961905246a9" /><Relationship Type="http://schemas.openxmlformats.org/officeDocument/2006/relationships/viewProps" Target="/ppt/viewProps.xml" Id="Re873f3b937784251" /><Relationship Type="http://schemas.openxmlformats.org/officeDocument/2006/relationships/tableStyles" Target="/ppt/tableStyles.xml" Id="R8a590534432643b5" /><Relationship Type="http://schemas.openxmlformats.org/officeDocument/2006/relationships/slide" Target="/ppt/slides/slide1.xml" Id="Ra7e213980a5b4aed" /><Relationship Type="http://schemas.openxmlformats.org/officeDocument/2006/relationships/slide" Target="/ppt/slides/slide2.xml" Id="R2ca4d5340f4d4c21" /><Relationship Type="http://schemas.openxmlformats.org/officeDocument/2006/relationships/slide" Target="/ppt/slides/slide3.xml" Id="Rb030a531b0214e62" /><Relationship Type="http://schemas.openxmlformats.org/officeDocument/2006/relationships/slide" Target="/ppt/slides/slide4.xml" Id="R109ea3b63b49473c" /><Relationship Type="http://schemas.openxmlformats.org/officeDocument/2006/relationships/slide" Target="/ppt/slides/slide5.xml" Id="R2dbf7890618845f5" /><Relationship Type="http://schemas.openxmlformats.org/officeDocument/2006/relationships/slide" Target="/ppt/slides/slide6.xml" Id="R8dc32ec9c45f40ea" /><Relationship Type="http://schemas.openxmlformats.org/officeDocument/2006/relationships/slide" Target="/ppt/slides/slide7.xml" Id="R2d46d401767d445e" /><Relationship Type="http://schemas.openxmlformats.org/officeDocument/2006/relationships/slide" Target="/ppt/slides/slide8.xml" Id="Rb79386d729234722" /><Relationship Type="http://schemas.openxmlformats.org/officeDocument/2006/relationships/slide" Target="/ppt/slides/slide9.xml" Id="R7a50efeb932b4d82" /><Relationship Type="http://schemas.openxmlformats.org/officeDocument/2006/relationships/slide" Target="/ppt/slides/slide10.xml" Id="R2e9140d072734e88" /><Relationship Type="http://schemas.openxmlformats.org/officeDocument/2006/relationships/slide" Target="/ppt/slides/slide11.xml" Id="R76423cbc911d4d49" /><Relationship Type="http://schemas.openxmlformats.org/officeDocument/2006/relationships/slide" Target="/ppt/slides/slide12.xml" Id="R78c676b7e7444f51" /><Relationship Type="http://schemas.openxmlformats.org/officeDocument/2006/relationships/slide" Target="/ppt/slides/slide13.xml" Id="R25090d8f87cc46be" /><Relationship Type="http://schemas.openxmlformats.org/officeDocument/2006/relationships/slide" Target="/ppt/slides/slide14.xml" Id="R03ee219f43ce46cb" /><Relationship Type="http://schemas.openxmlformats.org/officeDocument/2006/relationships/slide" Target="/ppt/slides/slide15.xml" Id="Rbc6e7d46995047e9" /><Relationship Type="http://schemas.openxmlformats.org/officeDocument/2006/relationships/slide" Target="/ppt/slides/slide16.xml" Id="R965fde5b70e1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10c58a4bd41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39883bd0ab49ca" /><Relationship Type="http://schemas.openxmlformats.org/officeDocument/2006/relationships/notesMaster" Target="/ppt/notesMasters/notesMaster1.xml" Id="R4d1344eaa90b45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d5318dccd4b6f" /><Relationship Type="http://schemas.openxmlformats.org/officeDocument/2006/relationships/notesMaster" Target="/ppt/notesMasters/notesMaster1.xml" Id="R69b2ee92f6ce41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27390d80e468e" /><Relationship Type="http://schemas.openxmlformats.org/officeDocument/2006/relationships/notesMaster" Target="/ppt/notesMasters/notesMaster1.xml" Id="R1c4d2c20578d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e57ab23b64e4b" /><Relationship Type="http://schemas.openxmlformats.org/officeDocument/2006/relationships/notesMaster" Target="/ppt/notesMasters/notesMaster1.xml" Id="Rd792aeb53bb740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f372f1aa04b13" /><Relationship Type="http://schemas.openxmlformats.org/officeDocument/2006/relationships/notesMaster" Target="/ppt/notesMasters/notesMaster1.xml" Id="R3473c452c12b48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a4033bfe664ebb" /><Relationship Type="http://schemas.openxmlformats.org/officeDocument/2006/relationships/notesMaster" Target="/ppt/notesMasters/notesMaster1.xml" Id="Rd286147ccb6945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9e7b061ebc40bb" /><Relationship Type="http://schemas.openxmlformats.org/officeDocument/2006/relationships/notesMaster" Target="/ppt/notesMasters/notesMaster1.xml" Id="R965f77037ad04b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f1761b09543dc" /><Relationship Type="http://schemas.openxmlformats.org/officeDocument/2006/relationships/notesMaster" Target="/ppt/notesMasters/notesMaster1.xml" Id="Rc1dd587de07a4e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0055cd6934417" /><Relationship Type="http://schemas.openxmlformats.org/officeDocument/2006/relationships/notesMaster" Target="/ppt/notesMasters/notesMaster1.xml" Id="R14f16347b89141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17b9ff2eba4be5" /><Relationship Type="http://schemas.openxmlformats.org/officeDocument/2006/relationships/notesMaster" Target="/ppt/notesMasters/notesMaster1.xml" Id="R295ff325aef741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544bff57b44d3e" /><Relationship Type="http://schemas.openxmlformats.org/officeDocument/2006/relationships/notesMaster" Target="/ppt/notesMasters/notesMaster1.xml" Id="Ref3b6f05258841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cf72d32dcd47c6" /><Relationship Type="http://schemas.openxmlformats.org/officeDocument/2006/relationships/notesMaster" Target="/ppt/notesMasters/notesMaster1.xml" Id="R4de3b10dc9c142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e6e1b1f75a4839" /><Relationship Type="http://schemas.openxmlformats.org/officeDocument/2006/relationships/notesMaster" Target="/ppt/notesMasters/notesMaster1.xml" Id="R66c64123840244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e4abe55a1249a1" /><Relationship Type="http://schemas.openxmlformats.org/officeDocument/2006/relationships/notesMaster" Target="/ppt/notesMasters/notesMaster1.xml" Id="R271a352a8c8d48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5427c6a9bb46f7" /><Relationship Type="http://schemas.openxmlformats.org/officeDocument/2006/relationships/notesMaster" Target="/ppt/notesMasters/notesMaster1.xml" Id="R61503b6d681946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3b8f85078047bc" /><Relationship Type="http://schemas.openxmlformats.org/officeDocument/2006/relationships/notesMaster" Target="/ppt/notesMasters/notesMaster1.xml" Id="R256e5795b584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ca902c7f049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3b5bd7af443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ab6aed82644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2ee86fe5b4a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6cccd880649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cbc2ec0946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0eca787974c1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54910badd41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5cfd74af341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bdf99cf8447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240a4986f412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83C6C0-5F49-4A50-AD42-9CAA9CE6EE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B981DDD-B123-4FB4-BD6A-1337AF59DB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977B26-8862-46C8-8189-9B554B2DC3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527750-FACF-4437-A031-014F3E390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241C59-9389-49C8-941F-C14933575C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B7E47E-2AFC-49AA-AE8E-2A55296DA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E335CB-EBCE-4106-B552-432A2C88B9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C06895-B0BC-483B-90EB-BDCDEA6121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65C9CC-E8AD-4070-955A-34DBEBE034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37DC3-D8A4-48AB-82E4-A3425FD1B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D63203-2299-460D-BC98-DFBC03FE2B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A3E663-5C41-4160-BCF4-4D0179809B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A0C329-B011-49AF-AA37-0A236BE8A4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31FC9F-5A67-4259-A019-CB0D66B206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544DC0-D6C2-4AEC-A5A8-EA35D89EB5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5D33A9-5B58-4AEE-B11E-B9B676A10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80B4B1-BC91-4E52-8744-F42A428D6D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9BFC044-A7A0-484C-814C-06CCD84BDE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00EB6A-6B24-43CA-BCB9-2F0158D3E0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97FDCA-87A9-4860-9B4B-1B04B13986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AFE5E1-D9C6-4E0F-B8EB-74356AFCF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CFFB0-FE37-4D45-B8A9-6BEBCD3D5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AED5E7-B1C3-4C3B-8C24-0A73B99D2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99409A-AD30-4DB1-A2B2-C099B03A5F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0D875D8-F166-4641-8A50-BCCB7BDD9F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CC90C1B-D2DB-4D87-8F16-A6B9C3520E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7DCFB70-AA5D-4D75-A5C7-5BD8F426CD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AC06BD-AD3B-4126-847E-B39BA973F7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8EF9B67-DA87-4E5F-B02D-EE7C2E72A7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8CAF7E-D452-4E27-80A9-28043DBD8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6923413-7D21-44CB-8348-965F4006A0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BE1B5D5-0592-4A83-886A-FC69175F15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8685BCA-787E-4EF6-938F-259AB0977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47B57FC-6D19-46C6-A31B-6F08743C24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5F0C29-2793-4344-B3DB-4AC539DF97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3A84333-A2B9-490F-9C0D-BD2FD1A3F7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F3790A-7133-43E9-801C-2EF79F383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0FC1CA-0E75-4022-9DA6-D79F2BAF59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136E08-37F3-4122-AF30-9DB4368D39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327CC90-882E-412F-9ABF-BB63043AD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3015E7-CBF8-42B4-9E60-3B5D2BE8F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E28AFF-22B5-4848-99AF-7D3E0B2AE3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21ADF6-ED62-4EFB-AF9D-C9491286F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042D9A-3A0D-43D9-A10A-A056042B2FD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1B2BC91-5B98-4F33-B6C6-AAE3D4B8AE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90CCA99-59CC-46DB-B766-5B765E58A8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65C556-9931-4ADB-A495-7FBF33F3B7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F94D2B-113C-4496-8391-C22DEF6E87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BBDED4-77B5-41C1-8868-6214B5EEC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E17924-9669-408C-B896-4A2687F57E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8ED83A-61DC-4901-8B2E-8A79165622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55AB97-4FE8-42E6-ACFE-6679B29D07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35F25B-950D-45C2-9EF4-F3EFD2A403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1BEF138-09CB-428E-A113-2D5AD8B7E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C5A9BD-F1BC-48A4-A6D8-A7997500D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F73B87-7BB1-451D-8914-AB95AD5FFA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C5E7A9-648E-4023-97AF-109932C9AC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343773-C155-459B-BB9C-63AC5BA2E7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61f208f524cd1" /><Relationship Type="http://schemas.openxmlformats.org/officeDocument/2006/relationships/slideLayout" Target="/ppt/slideLayouts/slideLayout1.xml" Id="R7397bbe6bfff46b3" /><Relationship Type="http://schemas.openxmlformats.org/officeDocument/2006/relationships/slideLayout" Target="/ppt/slideLayouts/slideLayout2.xml" Id="R58932c344b344b2d" /><Relationship Type="http://schemas.openxmlformats.org/officeDocument/2006/relationships/slideLayout" Target="/ppt/slideLayouts/slideLayout3.xml" Id="Rd5aa3e359076461b" /><Relationship Type="http://schemas.openxmlformats.org/officeDocument/2006/relationships/slideLayout" Target="/ppt/slideLayouts/slideLayout4.xml" Id="R2fa1c4f4a5194831" /><Relationship Type="http://schemas.openxmlformats.org/officeDocument/2006/relationships/slideLayout" Target="/ppt/slideLayouts/slideLayout5.xml" Id="R9d5a890fe4d6406f" /><Relationship Type="http://schemas.openxmlformats.org/officeDocument/2006/relationships/slideLayout" Target="/ppt/slideLayouts/slideLayout6.xml" Id="R6d7357f4dd2c4e85" /><Relationship Type="http://schemas.openxmlformats.org/officeDocument/2006/relationships/slideLayout" Target="/ppt/slideLayouts/slideLayout7.xml" Id="Rf55fb7961b1548d3" /><Relationship Type="http://schemas.openxmlformats.org/officeDocument/2006/relationships/slideLayout" Target="/ppt/slideLayouts/slideLayout8.xml" Id="Rebea4b3c36bf4785" /><Relationship Type="http://schemas.openxmlformats.org/officeDocument/2006/relationships/slideLayout" Target="/ppt/slideLayouts/slideLayout9.xml" Id="R1be8ac9235694700" /><Relationship Type="http://schemas.openxmlformats.org/officeDocument/2006/relationships/slideLayout" Target="/ppt/slideLayouts/slideLayout10.xml" Id="Rb42b93b858974474" /><Relationship Type="http://schemas.openxmlformats.org/officeDocument/2006/relationships/slideLayout" Target="/ppt/slideLayouts/slideLayout11.xml" Id="Rf6ba285b69e948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F98D40D-495B-48EA-83AB-2F187AF01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8D8200-C6C5-445D-8F05-66810BEAA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4BA1F3-F91C-417F-A398-3950B89FE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129973-F1B4-4E43-8BD4-8662A670CA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EAD9D8-EC75-4B83-83A4-1A9D2D5EEE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97bbe6bfff46b3"/>
    <p:sldLayoutId xmlns:r="http://schemas.openxmlformats.org/officeDocument/2006/relationships" id="2147483650" r:id="R58932c344b344b2d"/>
    <p:sldLayoutId xmlns:r="http://schemas.openxmlformats.org/officeDocument/2006/relationships" id="2147483651" r:id="Rd5aa3e359076461b"/>
    <p:sldLayoutId xmlns:r="http://schemas.openxmlformats.org/officeDocument/2006/relationships" id="2147483652" r:id="R2fa1c4f4a5194831"/>
    <p:sldLayoutId xmlns:r="http://schemas.openxmlformats.org/officeDocument/2006/relationships" id="2147483653" r:id="R9d5a890fe4d6406f"/>
    <p:sldLayoutId xmlns:r="http://schemas.openxmlformats.org/officeDocument/2006/relationships" id="2147483654" r:id="R6d7357f4dd2c4e85"/>
    <p:sldLayoutId xmlns:r="http://schemas.openxmlformats.org/officeDocument/2006/relationships" id="2147483655" r:id="Rf55fb7961b1548d3"/>
    <p:sldLayoutId xmlns:r="http://schemas.openxmlformats.org/officeDocument/2006/relationships" id="2147483656" r:id="Rebea4b3c36bf4785"/>
    <p:sldLayoutId xmlns:r="http://schemas.openxmlformats.org/officeDocument/2006/relationships" id="2147483657" r:id="R1be8ac9235694700"/>
    <p:sldLayoutId xmlns:r="http://schemas.openxmlformats.org/officeDocument/2006/relationships" id="2147483658" r:id="Rb42b93b858974474"/>
    <p:sldLayoutId xmlns:r="http://schemas.openxmlformats.org/officeDocument/2006/relationships" id="2147483659" r:id="Rf6ba285b69e9480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3ce3884e8b4b01" /><Relationship Type="http://schemas.openxmlformats.org/officeDocument/2006/relationships/image" Target="/ppt/media/image.jpeg" Id="R0dc56ad9f1a4432e" /><Relationship Type="http://schemas.openxmlformats.org/officeDocument/2006/relationships/notesSlide" Target="/ppt/notesSlides/notesSlide1.xml" Id="R6b8f92d4036a4a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42d14ff1cc4932" /><Relationship Type="http://schemas.openxmlformats.org/officeDocument/2006/relationships/notesSlide" Target="/ppt/notesSlides/notesSlide2.xml" Id="R2d5273cd564541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7a4822c9564fa2" /><Relationship Type="http://schemas.openxmlformats.org/officeDocument/2006/relationships/notesSlide" Target="/ppt/notesSlides/notesSlide3.xml" Id="R02d75db11e46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021300b3174500" /><Relationship Type="http://schemas.openxmlformats.org/officeDocument/2006/relationships/notesSlide" Target="/ppt/notesSlides/notesSlide4.xml" Id="R52d22a4592374b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58dc3b9932444d" /><Relationship Type="http://schemas.openxmlformats.org/officeDocument/2006/relationships/notesSlide" Target="/ppt/notesSlides/notesSlide5.xml" Id="R15a96b2189e7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869d8d6cd843c4" /><Relationship Type="http://schemas.openxmlformats.org/officeDocument/2006/relationships/notesSlide" Target="/ppt/notesSlides/notesSlide6.xml" Id="Rcea29babfabf45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465e06ff444fc6" /><Relationship Type="http://schemas.openxmlformats.org/officeDocument/2006/relationships/notesSlide" Target="/ppt/notesSlides/notesSlide7.xml" Id="R28e9844ead714f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05a5a216d34dbc" /><Relationship Type="http://schemas.openxmlformats.org/officeDocument/2006/relationships/notesSlide" Target="/ppt/notesSlides/notesSlide8.xml" Id="Red242d4338cb46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c52674262c4864" /><Relationship Type="http://schemas.openxmlformats.org/officeDocument/2006/relationships/image" Target="/ppt/media/image2.jpeg" Id="Rb41249121cb64d1b" /><Relationship Type="http://schemas.openxmlformats.org/officeDocument/2006/relationships/image" Target="/ppt/media/image3.jpeg" Id="R9cdc81f7e793418a" /><Relationship Type="http://schemas.openxmlformats.org/officeDocument/2006/relationships/notesSlide" Target="/ppt/notesSlides/notesSlide9.xml" Id="Reb7ee21e66894d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342f500ce04fe5" /><Relationship Type="http://schemas.openxmlformats.org/officeDocument/2006/relationships/image" Target="/ppt/media/image.png" Id="R34bcf0b2eec14f41" /><Relationship Type="http://schemas.openxmlformats.org/officeDocument/2006/relationships/image" Target="/ppt/media/image2.png" Id="Raff7ea5a8c474a65" /><Relationship Type="http://schemas.openxmlformats.org/officeDocument/2006/relationships/image" Target="/ppt/media/image3.png" Id="Ra5afa2bd8e25432c" /><Relationship Type="http://schemas.openxmlformats.org/officeDocument/2006/relationships/notesSlide" Target="/ppt/notesSlides/notesSlide10.xml" Id="R636a5a457a9546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a86d86a3da47f7" /><Relationship Type="http://schemas.openxmlformats.org/officeDocument/2006/relationships/notesSlide" Target="/ppt/notesSlides/notesSlide11.xml" Id="R0a6fa2aa03fe49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55e3114b094294" /><Relationship Type="http://schemas.openxmlformats.org/officeDocument/2006/relationships/notesSlide" Target="/ppt/notesSlides/notesSlide12.xml" Id="Rcdffb917602e46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996018dc6248af" /><Relationship Type="http://schemas.openxmlformats.org/officeDocument/2006/relationships/notesSlide" Target="/ppt/notesSlides/notesSlide13.xml" Id="R26d64091f4144c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6a8e048e18442e" /><Relationship Type="http://schemas.openxmlformats.org/officeDocument/2006/relationships/notesSlide" Target="/ppt/notesSlides/notesSlide14.xml" Id="Rcbcad28b413f48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58f6e5c9864d33" /><Relationship Type="http://schemas.openxmlformats.org/officeDocument/2006/relationships/notesSlide" Target="/ppt/notesSlides/notesSlide15.xml" Id="R01922c79b42545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9769b5780b469b" /><Relationship Type="http://schemas.openxmlformats.org/officeDocument/2006/relationships/notesSlide" Target="/ppt/notesSlides/notesSlide16.xml" Id="Rdc5f55e514eb40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357598-51D3-46B6-BAA5-9B849361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1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0393E7-94E5-4BD0-99B7-7270E5D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14400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600" b="1">
                <a:solidFill>
                  <a:srgbClr val="B3DDDF"/>
                </a:solidFill>
                <a:latin typeface="Aptos"/>
                <a:ea typeface="Aptos"/>
                <a:cs typeface="Aptos"/>
              </a:defRPr>
            </a:pPr>
            <a:r>
              <a:t>DATA ANALYSIS ESSENTIALS CORNERSTONE PROJECT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23961F7-1F4E-432C-AB81-E87404A8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515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WEB SCRAPING AND PRODUCT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PRICE ANALYSIS SYSTEM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36C310-906D-477B-9DAF-F3065A21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004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100" b="0">
                <a:solidFill>
                  <a:srgbClr val="DDE7F1"/>
                </a:solidFill>
                <a:latin typeface="Aptos"/>
                <a:ea typeface="Aptos"/>
                <a:cs typeface="Aptos"/>
              </a:defRPr>
            </a:pPr>
            <a:r>
              <a:t>Review 2 | Project Implementation &amp; Lines of Code (LOC)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B0D710-813F-463E-9C0D-D0F84CEC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9875520" cy="11603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Presented by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K. Shalini (25B11CS477)  </a:t>
            </a:r>
            <a:endParaRPr/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 Musindo Lloyed (25B11CSA69)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G. Sarath Sai Chaithanya (26B21CS02</a:t>
            </a:r>
            <a:r>
              <a:t>7</a:t>
            </a:r>
            <a:r>
              <a:t>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E81EBAB-1F4A-47EC-8FE9-05E611A3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058400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BECCDA"/>
                </a:solidFill>
                <a:latin typeface="Aptos"/>
                <a:ea typeface="Aptos"/>
                <a:cs typeface="Aptos"/>
              </a:defRPr>
            </a:pPr>
            <a:r>
              <a:t>Department of Computer Science and Engineering  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FCA913-1B41-41BD-8472-B0F1610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0">
                <a:solidFill>
                  <a:srgbClr val="BECCDA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994CDE2D-5CDE-4808-989F-509B796CC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56ad9f1a443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45720"/>
            <a:ext cx="4572000" cy="5943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0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EF91E1-712A-453D-9695-C170B19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IMPLEMENTATION OVERVIEW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A892687-8907-4EE5-959D-F81D664E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Current modules, source files and the PriceLens data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95F567E-7F29-4688-AA17-9408CBE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60BDE8-0C04-4708-8E7A-37DD9CC0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423754-9528-46BC-802A-D511698A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B10688A-2C75-47AA-8243-A6B34759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572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207A95-81AB-488B-91F6-A6F8EBD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408176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#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11C0CFB-8C00-4670-8E66-D97325F7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71600"/>
            <a:ext cx="1645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419A80-71AB-453F-B0FC-17EE2D55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408176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Module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94346A-AC4E-4B3A-A9B2-8CC09AB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71600"/>
            <a:ext cx="187451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7B869E-3A82-485E-B485-1027A72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1408176"/>
            <a:ext cx="180136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Source file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30003B-10AD-4D96-B432-EE7B525A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371600"/>
            <a:ext cx="69494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E527AED-834A-4E11-941D-0B1EC97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408176"/>
            <a:ext cx="68762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What it implements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DA53EC3-AE07-4CC6-AB45-AFA4F41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45720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8FA7FDB-177A-40DA-98F7-F7A812D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83080"/>
            <a:ext cx="38404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5F15515-BBB4-4513-BA9C-7973EEB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37360"/>
            <a:ext cx="164592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2AB9C6F-1BBE-4EB1-B3AD-B333F1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83080"/>
            <a:ext cx="157276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Access &amp; fetching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DB8DA47-3A5F-4AC4-885D-961BB18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37360"/>
            <a:ext cx="1874519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A740EC7-59D4-4DE6-929C-544BA719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1783080"/>
            <a:ext cx="1801367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scraper/fetcher.py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FC78C90-3409-4F7A-B257-44D5DFD4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37360"/>
            <a:ext cx="694944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2ACC51-E7F2-4A1A-BEB9-A55A3624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783080"/>
            <a:ext cx="687628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Validate public URLs, check robots.txt and bound HTTP requests.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AD69F5-4439-47EA-B21D-44ACE879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76856"/>
            <a:ext cx="45720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9B530FD-CAEA-4322-A614-89E8B8D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22575"/>
            <a:ext cx="38404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7FADCDF-8187-4676-AEFA-773E1AFF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76856"/>
            <a:ext cx="164592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1C0EB01-47A2-4DE8-BE75-6A7B645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22575"/>
            <a:ext cx="157276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Product extraction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44AE7E3-4DD3-4608-A87A-3AE8B135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76856"/>
            <a:ext cx="1874519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E37380E-8D1A-4DC8-9F00-09FE828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2322575"/>
            <a:ext cx="1801367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scraper/scraper.py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0E0E4FC-0543-4A41-9FD1-853A354C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76856"/>
            <a:ext cx="694944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1959624-09ED-419F-BCC0-949C2D0B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322575"/>
            <a:ext cx="687628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Detect sources, paginate listings and normalize product records.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479D0DB-0DA3-4ABB-A0C2-EC03378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16352"/>
            <a:ext cx="45720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8D53733-E400-43D3-AD2C-53B3CDE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62072"/>
            <a:ext cx="38404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563348C-52C5-434C-87AB-529E6E6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16352"/>
            <a:ext cx="164592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140081A-52B7-4F9D-9C5D-A93349A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862072"/>
            <a:ext cx="157276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Generic parsing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28285D04-348A-4E2B-AA19-1668BFF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6352"/>
            <a:ext cx="1874519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FCA4AFA-1691-4480-95D9-6CE2F498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2862072"/>
            <a:ext cx="1801367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scraper/parsers/generic.py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63A9202-1EF4-403E-9B68-B610A22B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816352"/>
            <a:ext cx="694944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28E130-CB05-4712-B878-84A45FA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862072"/>
            <a:ext cx="687628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Parse Product and ItemList JSON-LD, with common HTML fallbacks.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5280EA35-0B10-4D8D-9774-66A6801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55848"/>
            <a:ext cx="45720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925987F-7998-41C2-8D6A-878FE6F5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401568"/>
            <a:ext cx="38404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ED48091E-B49D-4818-ABAE-590BF41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55848"/>
            <a:ext cx="164592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B138F2E9-4B4B-4C36-977D-1E7C81B9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401568"/>
            <a:ext cx="157276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Data cleaning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6E850AF5-BAA4-482B-BEAF-FF04B1E8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5848"/>
            <a:ext cx="1874519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D63883B-3AA3-4ED3-AAFA-24855C67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3401568"/>
            <a:ext cx="1801367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analysis/price_analysis.py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DCAB776-7B5D-4137-9B12-26FDC364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355848"/>
            <a:ext cx="694944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D47251A5-5979-43E9-A74C-8BDD31F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401568"/>
            <a:ext cx="687628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Normalize prices and ratings; remove duplicate or invalid-price rows.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927B72DE-C924-4D71-9D24-C0318BA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95344"/>
            <a:ext cx="45720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600E9D3-A3B9-4B9A-A9CC-5A1D5A07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41063"/>
            <a:ext cx="38404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DEBE4BDD-47CE-40F7-8728-B9CF6245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95344"/>
            <a:ext cx="164592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87CBC6E4-1F94-4A39-9617-19764A9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41063"/>
            <a:ext cx="157276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Price insights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0E815A30-FB81-4EA4-A03A-64FA9EB4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95344"/>
            <a:ext cx="1874519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5D8DDF0A-AE1A-4F42-9281-6CA4DF96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3941063"/>
            <a:ext cx="1801367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analysis/price_analysis.py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85E31732-DAED-4FCE-BF3C-1B3780F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694944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41D9EDD-CF4F-40D2-8CFC-E5894C29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941063"/>
            <a:ext cx="687628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Calculate min, max, mean, median, range and product-level insights.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D778666F-2BA6-4758-818D-F611C2A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45720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C7B635FC-A758-4678-AD29-61592BB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480559"/>
            <a:ext cx="38404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9BE381FF-34C3-4460-BA81-7D65497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34840"/>
            <a:ext cx="164592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E208616-D65D-45B8-8B62-4FA650F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480559"/>
            <a:ext cx="157276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Web app &amp; auth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9F3BD84D-14F1-4B87-9E38-2038C9D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34840"/>
            <a:ext cx="1874519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4F6EF4A5-A885-4C9A-A8A6-A025157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4480559"/>
            <a:ext cx="1801367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web/app.py · web/auth/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64263DA7-C7BD-4B57-A651-FBA18B82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34840"/>
            <a:ext cx="6949440" cy="539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9253F815-1140-4D7C-BEDE-305C3F5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480559"/>
            <a:ext cx="6876288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0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Flask pages and APIs, SQLite accounts, analysis history and charts.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E1495EB-3B18-4835-BC81-72DAAE95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500" b="1">
                <a:solidFill>
                  <a:srgbClr val="18848B"/>
                </a:solidFill>
                <a:latin typeface="Aptos"/>
                <a:ea typeface="Aptos"/>
                <a:cs typeface="Aptos"/>
              </a:defRPr>
            </a:pPr>
            <a:r>
              <a:t>Public URL → Access checks → Product extraction → Cleaning → Price analysis → Charts and SQLite history → Flask dashboard</a:t>
            </a:r>
          </a:p>
        </p:txBody>
      </p:sp>
    </p:spTree>
    <p:extLst>
      <p:ext uri="{BB962C8B-B14F-4D97-AF65-F5344CB8AC3E}">
        <p14:creationId xmlns:p14="http://schemas.microsoft.com/office/powerpoint/2010/main" val="69892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CDD7C9A-BBC3-4E4B-8490-889D60D7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1: PRODUCT DATA COLLECTION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092187-C22E-4AD0-B27D-41C2E896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Source files: scraper/scraper.py, analysis/price_analysis.py and the CLI CSV outputs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996799-E496-4476-8C3F-09B6E4F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221655-05C0-4F22-93E5-49AEE082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E4DEE0-A63B-496D-8B97-7D171A0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D2FBCDC-A70E-4017-9B49-20D00E62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F6A2596-B15A-476B-ABD3-8E4CED1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7A7D7DC-5928-4AB2-81D3-ABBC0D3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Product collection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0F863C-72AA-491C-8761-ECA77BB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Fetch public product or listing pages and normalize extracted records.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D2DD35E-E206-4BD6-A12F-4F557D9B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86E125-E6BA-4451-BFDC-5676ECA1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D00D0F4-0F3B-4993-AFAE-8E19B473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Structured fields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0BB6B8A-124B-4679-8465-176786A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Keep names, prices, currencies, ratings, stock, category and product links.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791E94F-2C16-4932-A69F-5E2AA36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EC2C157-1EE7-467B-84BF-07CD865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26CAFE3-5A5E-4B68-8469-D08631F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Two entry points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D4D093D-AA05-4F62-B5C1-B2A1E54E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The CLI writes CSV files; the Flask app analyzes pages and saves history in SQLite.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AEBA28D-9A58-489C-86F0-E1BC617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557784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DB11B27-604B-410C-A2AD-D089D24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44952"/>
            <a:ext cx="5358383" cy="778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products = scrape_products(url, pages=pages)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3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df = clean_product_data(products)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3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save_data(df, "data/processed/products.csv")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3D7D88B8-84C1-4CE3-9C92-00253F7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66344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29C364C-DD39-45B5-A04E-850C53D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4E25A7B-6A9E-4FF8-AE0C-A96E3E68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063240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Product fields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7AD0025-6086-4EF9-8435-48E3360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410712"/>
            <a:ext cx="4389120" cy="823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product_name • price • currency • website_name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2A3038"/>
                </a:solidFill>
                <a:latin typeface="Aptos"/>
                <a:ea typeface="Aptos"/>
                <a:cs typeface="Aptos"/>
              </a:rPr>
              <a:t>category • rating • availability • product_link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2A3038"/>
                </a:solidFill>
                <a:latin typeface="Aptos"/>
                <a:ea typeface="Aptos"/>
                <a:cs typeface="Aptos"/>
              </a:rPr>
              <a:t>discount • last_updated</a:t>
            </a:r>
          </a:p>
        </p:txBody>
      </p:sp>
    </p:spTree>
    <p:extLst>
      <p:ext uri="{BB962C8B-B14F-4D97-AF65-F5344CB8AC3E}">
        <p14:creationId xmlns:p14="http://schemas.microsoft.com/office/powerpoint/2010/main" val="1067714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08599F2-EEA3-448C-AB12-50D44E1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1: WEB SCRAPING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54DE94-F31E-43A6-9C6A-DF06507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Source files: scraper/fetcher.py and scraper/scraper.py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3058656-8EE4-4A89-9A65-DAE73FBB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3B5985-35AC-4207-BE52-4BD00BF1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8BD036-DB46-4A10-923C-7A865008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ACB228E-8600-4EEE-8969-B30E0D0B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41E1C85-BD42-4DFA-8086-34B5E5AD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9386021-94F0-48D7-AFB7-B32480D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1. Check public URL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2EB5A8F-F8E0-4DBC-8F57-512A271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Reject private targets and check robots.txt before fetching each page.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12407B2-82C5-4BB0-8DE9-1D4D9651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24599CF-48D1-4D90-BEC0-48D276AC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89C390C-E15D-4364-81D0-E30EE0A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2. Fetch politely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F62624-359B-445F-A721-ABB4991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Use per-host pacing, redirect checks and bounded connect/read timeouts.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EC835E4-BFC1-4B8B-BE6F-24E9230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4764129-C17C-4ECF-899F-B69F3AC6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3DA22E-F901-4AC8-BA98-92708D1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3. Extract product data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B57C120-D2CA-4EF3-8AD1-387FC49D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Prefer Product/ItemList JSON-LD; use same-site detail pages when useful.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BD001F7-1E12-4698-BB52-5314B2F2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5669280" cy="2377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08E840C-6E93-471D-A0F3-0BAD2875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44952"/>
            <a:ext cx="5449824" cy="1123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from scraper.fetcher import fetch_page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1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from scraper.parsers.generic import parse_products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1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html = fetch_page(product_url)  # robots.txt + bounded fetch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1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products = parse_products(html, base_url=product_url)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9C8BB30-924C-4A7A-9D39-6C0C0F2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663440" cy="2377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073C32C-90DE-4C75-9945-F6B6F8F3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64008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2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7CFAEF-333D-4E66-9C59-2FAD12B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063240"/>
            <a:ext cx="44074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Important limitation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F63A92-EFF9-429F-A5C0-22E29AC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410712"/>
            <a:ext cx="438912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Stop when robots.txt, rate limits, login or CAPTCHA block access. JavaScript-only pages may not expose product details.</a:t>
            </a:r>
          </a:p>
        </p:txBody>
      </p:sp>
    </p:spTree>
    <p:extLst>
      <p:ext uri="{BB962C8B-B14F-4D97-AF65-F5344CB8AC3E}">
        <p14:creationId xmlns:p14="http://schemas.microsoft.com/office/powerpoint/2010/main" val="1179412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8F5858B-29E2-4547-BE45-22BC2F8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2: DATA CLEANING &amp; PREPROCESSING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1EB3BE-B9CB-4A1D-9036-564C22A0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Source file: analysis/price_analysis.py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104863-6481-4204-B925-6559748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21F9AF-48CC-4D72-B533-E74F98FC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093B13-219F-468D-961D-9EB6D26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B4B20E2-88E2-4C05-91FC-E4F5CF9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653564C-68DB-4052-8EC7-50A3FE2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AF0402-EA78-49BA-968E-774655D5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08760"/>
            <a:ext cx="321868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Missing values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E036509-4A43-4F18-B3A9-F8407EBA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Keep optional ratings and discounts missing when the page omits them.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26DEC60-A170-43E3-A08C-1C2A15B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EDE86B-D862-4B8B-8EE8-82B7904D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EC0C2B-F1E3-4881-BB4A-A561E5B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08760"/>
            <a:ext cx="321868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EDEE49-1460-4601-A937-AD1A9B3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Remove duplicates using product_link and product_name.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6E210B2-09F7-44B6-8A0D-A7A16611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2B8DAC2-54CD-42A7-ABA7-8F3A01F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3168E3-BA53-4447-AE0A-8937080C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508760"/>
            <a:ext cx="321868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Price conversion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90686D6-6FD9-4110-B275-9D34D928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Normalize common price formats and coerce unparseable values to missing.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AD11E87-72CD-4B80-BAF4-672E99E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66928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1CF9FC9-A10C-4927-A086-5695DA9E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62072"/>
            <a:ext cx="5449824" cy="208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df["price"] = pd.to_numeric(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    df["price"].astype("string")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      .str.replace(r"[^0-9,.-]", "", regex=True)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      .str.replace(",", "", regex=False),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    errors="coerce"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df = df.drop_duplicates(subset=["product_link", "product_name"])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df = df.dropna(subset=["price"])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36461EB-BCB0-4C1A-81F7-1EE8B96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8920"/>
            <a:ext cx="466344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6F51166-C83F-4DFE-B118-59BB157B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8920"/>
            <a:ext cx="64008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17ACE1D-9781-4B38-8389-3B5FC10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880360"/>
            <a:ext cx="44074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Preprocessing outcome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634988-40B7-47C3-BBC6-C72CD602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227832"/>
            <a:ext cx="4389120" cy="509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Keep missing prices out of analysis. A product without a valid price is not assigned a zero value.</a:t>
            </a:r>
          </a:p>
        </p:txBody>
      </p:sp>
    </p:spTree>
    <p:extLst>
      <p:ext uri="{BB962C8B-B14F-4D97-AF65-F5344CB8AC3E}">
        <p14:creationId xmlns:p14="http://schemas.microsoft.com/office/powerpoint/2010/main" val="1375423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810B0E4-5019-4D70-8CA5-47537D4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2: DATA VALIDATION &amp; STORAGE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AA6D39-D767-476B-B971-3E4E5B3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CLI: CSV exports  •  Web: account-scoped SQLite history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1DC1EE-5413-4986-AFC9-DCD3EED4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44B5F2-2A57-4906-BDF3-D9DA3B0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77D0BED-2300-485E-89DC-5271869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86DC51-A0E3-40AC-879A-040CEC11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521208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291D78-2A35-4D43-BFD6-C1A7F677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81912"/>
            <a:ext cx="4992624" cy="1352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df = clean_product_data(products)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4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save_data(df, "data/processed/products.csv")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4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# The Flask API saves successful results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4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# and product records in SQLite history.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A5E0B8-6280-404B-B644-55C9943A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02920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43D78A4-5A43-4553-8DF6-2D07143B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6400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4B4491-39E9-4A7C-812F-C48FD2D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600200"/>
            <a:ext cx="47731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Quality checks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4F898F-8851-4AEE-9BBF-510D1570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947672"/>
            <a:ext cx="475488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Clean numeric prices and ratings; remove duplicates and invalid-price rows.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8364523-F2FF-4AB2-B9FC-D1FCFC1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43200"/>
            <a:ext cx="502920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CAD8FC1-8FDE-4E4C-B396-6E4E96A1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43200"/>
            <a:ext cx="6400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25F5901-9EE8-45E4-A6B0-7444F5F6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834640"/>
            <a:ext cx="47731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Storage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D3906D1-6295-4C8B-9E80-44BB00D7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182112"/>
            <a:ext cx="475488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CLI exports raw and cleaned CSVs; the web app saves successful analyses to SQLite.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15A7C7C-9E7B-45F9-A4AE-FC1E1EB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69080"/>
            <a:ext cx="4937760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B34242"/>
                </a:solidFill>
                <a:latin typeface="Aptos"/>
                <a:ea typeface="Aptos"/>
                <a:cs typeface="Aptos"/>
              </a:defRPr>
            </a:pPr>
            <a:r>
              <a:t>Mixed or missing currencies suppress combined price metrics to avoid misleading totals.</a:t>
            </a:r>
          </a:p>
        </p:txBody>
      </p:sp>
    </p:spTree>
    <p:extLst>
      <p:ext uri="{BB962C8B-B14F-4D97-AF65-F5344CB8AC3E}">
        <p14:creationId xmlns:p14="http://schemas.microsoft.com/office/powerpoint/2010/main" val="660605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24F2AEE-2CF1-4CB2-BACF-E2D62FB6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3: PRICE ANALYSIS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B80524-805E-4762-B03C-3482D60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Source file: analysis/price_analysis.py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DAE539-D9AE-4F7A-99AD-6BAF37E1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DB4CF15-7A21-420D-9B60-62BA97D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BC25FC-9132-41D9-A124-447873C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4711B93-A17E-4E3F-8D30-A00EE1C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0AD9BFB-92A4-4BB3-8B03-5145ECD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74E84D4-5CA5-455A-A9ED-8EC98B1B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08760"/>
            <a:ext cx="321868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Minimum price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6CD7088-1E38-4EBB-81B4-28ED2C71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56232"/>
            <a:ext cx="3200400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min() identifies the lowest valid price.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8CE5D24-D3E6-43AD-89A3-C15AB239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ED332CF-8334-4441-8DE2-8F1DF75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C9558F0-6627-4649-8A9D-9A8867EF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08760"/>
            <a:ext cx="321868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Maximum price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13D7298-AB04-4994-8698-F6EAE7E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3200400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max() identifies the highest valid price</a:t>
            </a:r>
            <a:r>
              <a:t>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9DA18DC-9ED4-4D7B-8A0D-BFABB9C8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6BAB1D4-43CC-496D-B872-90FE8CE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772E133-5F8E-4457-82DC-4D6CDD0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508760"/>
            <a:ext cx="321868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Average &amp; difference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2577AC-B9D0-4519-B998-68222F5E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mean() calculates average; median() finds the midpoint; max − min is the range.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C1F4F8-93BC-4523-9C61-4A7A04C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566928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E71AD0-B957-44F2-84FC-80FDF52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53512"/>
            <a:ext cx="5449824" cy="1123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statistics = calculate_price_statistics(df)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1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insights = get_product_insights(df)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1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# min, max, mean, median, and range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1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# are returned for one currency set.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0D46A67-2E8B-443A-B872-6A13E18A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0360"/>
            <a:ext cx="466344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00FCCA3-7390-4B75-85ED-5BF1AAB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0360"/>
            <a:ext cx="64008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AFC4505-F315-4B78-A4EF-18F6A25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971800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Product insights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F42AF1B-BA81-4EF5-B892-151BD332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319272"/>
            <a:ext cx="4389120" cy="509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Identify the lowest-priced, highest-rated and most expensive products in the analyzed result set.</a:t>
            </a:r>
          </a:p>
        </p:txBody>
      </p:sp>
    </p:spTree>
    <p:extLst>
      <p:ext uri="{BB962C8B-B14F-4D97-AF65-F5344CB8AC3E}">
        <p14:creationId xmlns:p14="http://schemas.microsoft.com/office/powerpoint/2010/main" val="980824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96F0C4F-BB38-4A6A-835E-5061526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4: DESCRIPTIVE STATISTICS &amp; INSIGHTS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617384F-FBEC-4F35-B470-FA45B5CE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Source file: analysis/price_analysis.py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B80D5A-9FD7-4DF4-8448-3651E8DE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FDB37F-F8EA-4823-A5AA-3E97CCB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4E972B9-B9DA-43DF-B130-96978221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8CC94A4-4749-49B9-A3FA-95F8E0B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530352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F34B311-01D6-489D-923C-EFF8279A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81912"/>
            <a:ext cx="5084064" cy="1199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statistics = calculate_price_statistics(df)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insights = get_product_insights(df)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# Price statistics are withheld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# when currencies cannot be compared.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09DD3A-034B-4167-8E36-C67B5EFA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08760"/>
            <a:ext cx="49834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05901A-EE12-45B6-B6A9-ABAFDF5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08760"/>
            <a:ext cx="6400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92B22-536E-4A6E-A29D-542A451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00200"/>
            <a:ext cx="47274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Price summary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C84719D-AE7F-41FA-8264-0AAFA4AE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947672"/>
            <a:ext cx="47091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Product count, minimum, maximum, average, median and range.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E3CC255-4225-43E4-917D-FAB7D32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43200"/>
            <a:ext cx="49834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C88C1C8-BEF6-462E-947F-E2C79DE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43200"/>
            <a:ext cx="6400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FC1E2F-677B-44BC-AC2E-FFDEB2B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834640"/>
            <a:ext cx="47274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Product insights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8F49B4-415E-41F0-814E-5E6FD1C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182112"/>
            <a:ext cx="47091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Select the lowest price, highest listed rating and highest price.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0B40162-10A0-4047-AC91-C1CC41B2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39"/>
            <a:ext cx="49834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A5F4955-A2B9-4918-B5C2-5DF3FA95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39"/>
            <a:ext cx="6400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50F22A-C374-478F-BEA4-BE062A90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069079"/>
            <a:ext cx="47274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Analysis limits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1CE988-BEC5-40E8-B028-37ACC80B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416552"/>
            <a:ext cx="470916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Descriptive summaries only; mixed currencies are never combined into one total.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A629D8E-1556-4017-8CCE-47440207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69080"/>
            <a:ext cx="5029200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B34242"/>
                </a:solidFill>
                <a:latin typeface="Aptos"/>
                <a:ea typeface="Aptos"/>
                <a:cs typeface="Aptos"/>
              </a:defRPr>
            </a:pPr>
            <a:r>
              <a:t>The dashboard has no price forecast; trend analysis needs dated history across multiple runs.</a:t>
            </a:r>
          </a:p>
        </p:txBody>
      </p:sp>
    </p:spTree>
    <p:extLst>
      <p:ext uri="{BB962C8B-B14F-4D97-AF65-F5344CB8AC3E}">
        <p14:creationId xmlns:p14="http://schemas.microsoft.com/office/powerpoint/2010/main" val="1086776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8B53082-0964-410F-A283-2DEB73A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5: DATA VISUALIZATION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BEE3B6F-C971-450E-B450-7FFCAAD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Charts generated from the cleaned product dataset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E3942E-0D02-4739-B16F-85541210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C3A6C46-5DCF-4B2C-8F47-439A9A35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6F1A260-6410-408C-B1E1-D1F7C2A7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5C88EF83-15F1-4F98-9527-654DE9A9B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249121cb64d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" y="1374309"/>
            <a:ext cx="5221393" cy="297261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74CE2D7-39F4-46A7-8F20-458CAAD1F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c81f7e79341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1374309"/>
            <a:ext cx="5669280" cy="297261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F26224D-A303-C023-5340-7E8F4691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73" y="4573656"/>
            <a:ext cx="10862733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The CLI exports price comparison, price distribution and rating-versus-price charts. The Flask dashboard adds four interactive charts with product and price-range drill-downs.</a:t>
            </a:r>
          </a:p>
        </p:txBody>
      </p:sp>
    </p:spTree>
    <p:extLst>
      <p:ext uri="{BB962C8B-B14F-4D97-AF65-F5344CB8AC3E}">
        <p14:creationId xmlns:p14="http://schemas.microsoft.com/office/powerpoint/2010/main" val="1188066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FE802F-0A82-4693-87D2-A3DF1E37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5: VERIFIED CHART OUTPUTS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6436BF-217F-4669-BAC9-DC4DA8B5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Matplotlib exports from the Books to Scrape sample in data/processed/products.csv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AA10B51-FD9E-4B5D-B297-394D6E4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0DB542-D08E-4352-9AD5-AD15DBF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4303EF-907A-4F51-9425-EC08968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D130FAA-0BE7-4450-8BA5-0BC98640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528A64-4E8D-401E-A0B3-52F4F30F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A435B4E-E7BF-42AE-88EA-719B0AAB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Price comparison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0C2FF3-8477-464B-ACAB-7E0B461A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300">
                <a:solidFill>
                  <a:srgbClr val="2A3038"/>
                </a:solidFill>
                <a:latin typeface="Aptos"/>
                <a:ea typeface="Aptos"/>
                <a:cs typeface="Aptos"/>
              </a:rPr>
              <a:t>Compare product prices in the current analysis result.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2B6F051-C0B9-4DFA-93E7-A7718DE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1019B6D-2CBD-4C43-9A5A-2767B189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63018AA-7FD4-480F-8BEB-2DF8FE36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Price distribution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830C829-E08C-4D37-9745-793AAF0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32004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300">
                <a:solidFill>
                  <a:srgbClr val="2A3038"/>
                </a:solidFill>
                <a:latin typeface="Times New Roman"/>
                <a:ea typeface="Times New Roman"/>
                <a:cs typeface="Times New Roman"/>
              </a:rPr>
              <a:t>Group products into price ranges; dashboard users can select a range to inspect its products.</a:t>
            </a: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61B3591-6CC5-434C-970F-7FA3CE22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D5C2C8E-E773-4439-AD88-E1826FFA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7941E2-AA3F-4103-BC07-E92DFFF3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Rating vs. price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EE3E869-9693-4258-9AEF-E153AA7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300">
                <a:solidFill>
                  <a:srgbClr val="2A3038"/>
                </a:solidFill>
                <a:latin typeface="Times New Roman"/>
                <a:ea typeface="Times New Roman"/>
                <a:cs typeface="Times New Roman"/>
              </a:rPr>
              <a:t>Show observed prices against ratings when both fields are available.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11811A5-1840-4F5A-9BC0-AE79AF75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C63069A-333B-456F-A06E-13938C74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80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3CF0BC1-7E58-4AD4-833E-B76A2468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9" y="333756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Price statistics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70B5996-4E21-4963-99BC-6EA7E93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32" y="3685031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Dashboard marks show count, minimum, maximum and mean for the current analysis.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82022107-AC78-4095-9D14-0D2BD097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612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FDC0CB1-5A0E-431E-B5F7-5518F5F3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2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7B07A2A-1CC9-4F48-AF1B-D7956A4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3375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Interactive drill-down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49632E-80D8-4BD7-B72A-ADE599D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685031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Chart selections open a product detail or filtered price-range list.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4482D5A-E423-4212-8E99-3F2D57B2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4612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DC27554-8A24-4235-A2C7-BE536B7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4612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38CBD68-2EC9-4E39-87BD-1BACDF5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3375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CLI chart files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E81BFF7-E3E8-4298-AFC6-B5321FFE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685031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The CLI saves three PNG charts: comparison, distribution and rating versus price.</a:t>
            </a:r>
          </a:p>
        </p:txBody>
      </p:sp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31E34EBB-6ADF-489D-993F-7DA2A57FD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cf0b2eec1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21207" y="3104388"/>
            <a:ext cx="3624073" cy="2841074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25B487AA-6C76-429E-A7B2-217650AC1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f7ea5a8c474a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307840" y="3205081"/>
            <a:ext cx="3638295" cy="2381293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90AC5BE6-6C58-46E9-95AD-C8D3A65AC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fa2bd8e2543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81695" y="3097952"/>
            <a:ext cx="4146297" cy="28301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40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86D1CF4-5593-47A2-A49C-B611ED63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IMPLEMENTATION MODULES &amp; VERIFIED CODE SIZE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CFD3382-5405-41E1-9F1A-D772B736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Selected Python source counts • nonblank, noncomment lines • checked 9 Oct 2026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F74784F-A3A8-475F-9B7E-AD28E1B8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D67C51-F007-4D74-8E70-CF62274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CDDD92-71AA-4444-BC03-DE59EF21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B44804A-5AB2-44DE-9D23-091F024E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283464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31215A7-3F4A-4313-90D0-8A5B8B13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64008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EAD7C3-A3E5-46CA-89D1-74217EF6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54480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scraper/fetcher.py · 213 LOC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F77C3E3-6D4C-4C80-BEEC-901CE67C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01952"/>
            <a:ext cx="2560320" cy="100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0AB4577-8ED6-4AE9-AC1E-78D96E3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517904"/>
            <a:ext cx="7315200" cy="295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Validate public URLs; enforce robots.txt, per-host pacing and bounded HTTP requests.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59EA724-D118-4A0F-A1D9-C95380C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283464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3998A3F-9D2F-4452-A71F-682A5FF6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64008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EC5C136-F0B1-47AA-8048-0927072D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04288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scraper/scraper.py · 226 LOC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E8F1E0-7E96-4A15-83E2-F4A075D7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51760"/>
            <a:ext cx="2560320" cy="100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02748B3-EEFE-4F80-B5D7-B500B3A0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267712"/>
            <a:ext cx="7315200" cy="295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Detect sources, paginate listings and normalize extracted product records.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2159D2A-31F0-402B-960A-755BB80F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62656"/>
            <a:ext cx="283464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591EA1D-DA9F-4A2E-92AE-7B3A7849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62656"/>
            <a:ext cx="64008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8EC613-A0BB-4FC7-8364-76E7E2A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54096"/>
            <a:ext cx="2578608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scraper/parsers/generic.py · 244 LOC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68AC5EE-B539-46ED-AD70-FDB93881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01568"/>
            <a:ext cx="2560320" cy="100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47D6E4E-8631-44E2-9AE8-7169AB49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017520"/>
            <a:ext cx="7315200" cy="295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Parse Product and ItemList JSON-LD, plus common HTML product-page fallbacks.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CD935FD-4BFA-4C86-8634-EAF251A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12463"/>
            <a:ext cx="283464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496FDF5-5066-45E9-83A1-BBF4ADF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12463"/>
            <a:ext cx="64008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A19CBD4-A6D8-43E3-9CF8-60EA107D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03903"/>
            <a:ext cx="2578608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analysis/price_analysis.py · 126 LOC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34D4BA-438D-408E-A2B8-499C614A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51375"/>
            <a:ext cx="2560320" cy="100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B8099C8-8329-4844-928D-7BA99B3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767327"/>
            <a:ext cx="7315200" cy="295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Clean product data; calculate price metrics and product-level insights.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CA9F6A79-7355-45CE-BE28-675E74E6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62272"/>
            <a:ext cx="283464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D6E3CDC-CD85-42DC-9884-6EF8906F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62272"/>
            <a:ext cx="64008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1C2DBE7-0629-454D-90B9-DEB9D87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53712"/>
            <a:ext cx="2578608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visualization/charts.py + main.py · 208 LOC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9C8A1E8-EA78-4734-8DE4-F3122286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901183"/>
            <a:ext cx="2560320" cy="100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D742E19-D1D9-4CB0-9E33-8CC4D92F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517136"/>
            <a:ext cx="7315200" cy="295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Run the CLI workflow and export comparison, distribution and rating-price charts.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B77D2F8D-3E03-480C-838F-2672C69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283464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83DD3C3-593A-451E-BB04-87AC3627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64008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DF298C3-04A7-4D2D-B4E9-7649599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303520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web/ + web/auth/ · 1,027 LOC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56F94D-B27C-4F7B-B598-3CE30A1C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650992"/>
            <a:ext cx="2560320" cy="100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5E687EB-CC50-4042-99AF-835E001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266944"/>
            <a:ext cx="7315200" cy="295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Flask pages and APIs, SQLite account/history storage and password-reset routes.</a:t>
            </a:r>
          </a:p>
        </p:txBody>
      </p:sp>
    </p:spTree>
    <p:extLst>
      <p:ext uri="{BB962C8B-B14F-4D97-AF65-F5344CB8AC3E}">
        <p14:creationId xmlns:p14="http://schemas.microsoft.com/office/powerpoint/2010/main" val="1503836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3385315-68E1-4981-A1E3-1108775E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MODULE 6: FLASK PRICELENS WEB APPLICATION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B5E1FF-D336-424E-9259-6B6BAA5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Source files: web/app.py, web/templates/ and web/static/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09B3CD-57CB-4CE0-8BD0-4223C5B1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15D57A-213F-491E-AB64-E887AF9D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13D1557-F555-47F9-88CF-DC5D9E72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EE6D5C9-18C7-4218-85D8-30BFF839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F24AF3-E136-4B98-B87A-B99D9E4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50DB8D-2832-4FA1-9B7F-F93E856A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Analysis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0C80E4E-02B9-4B74-911C-AD9C7D74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Submit product, search or category URLs; review detected source and access status.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3BECE66-7282-40A8-A53C-C14E8631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8372BF-2461-4FC8-B271-52F4245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C3206CB-2521-4C1B-9A27-811F7523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Product details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0C5B67-2D54-45EF-88AB-CA43326E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Review name, price, currency, rating, stock, category, link and scrape time.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727D22-5644-44A3-BA4F-32369D3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64C632A-DE15-4C68-B801-9CCEE184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495FCA9-7046-4312-96E6-F053E474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50876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Metrics &amp; insights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CCDE08A-98F5-46AC-963B-CB2E07A1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85623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Show count, min, max, average, median and range; surface product insights.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470716E-0C80-465F-BE0C-FF2C90D4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1F11C6D-7082-4985-BC9F-AF05517A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80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AFB0A9C-117A-43B9-892E-BBDD477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06324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Interactive charts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6655B6E-BD73-4162-B79E-CDFB8CF7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41071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he Serif Hand Light"/>
                <a:ea typeface="The Serif Hand Light"/>
                <a:cs typeface="The Serif Hand Light"/>
              </a:rPr>
              <a:t>Explore comparison, price ranges, rating versus price and price statistics.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ED5D17F-6D10-4027-81BF-D30D63AD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BF77F1F-3E48-484B-9342-0878C48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F3F354E-E6B1-4847-9EA8-B29C6B8A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06324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History &amp; profile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6F8A258-F567-4CE7-87C7-3F34F15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410712"/>
            <a:ext cx="320040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Reopen account-scoped analysis history and manage profile details.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31CA4AF-5C64-43DC-93AE-DF0654A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7180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316E5FB-E43C-4C75-9866-72F473D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718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E0878C9-50B6-4D0C-9D16-0ADF002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6324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Accounts &amp; recovery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C2E44F5-9923-4DAD-8D04-B894D941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410712"/>
            <a:ext cx="32004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Werkzeug password hashes, session versioning and email OTP via environment-based SMTP.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8DF986F-4A5B-46CB-9A04-7C2969C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6675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10B3911-7DD9-44C5-BB81-E971BF9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36592"/>
            <a:ext cx="6455664" cy="732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t>@app.route("/api/analyze", methods=["POST"])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products = scrape_products(url, pages=pages)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200" b="0">
                <a:solidFill>
                  <a:srgbClr val="253A4D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53A4D"/>
                </a:solidFill>
                <a:latin typeface="Consolas"/>
                <a:ea typeface="Consolas"/>
                <a:cs typeface="Consolas"/>
              </a:rPr>
              <a:t>df = clean_product_data(products)</a:t>
            </a:r>
          </a:p>
        </p:txBody>
      </p:sp>
    </p:spTree>
    <p:extLst>
      <p:ext uri="{BB962C8B-B14F-4D97-AF65-F5344CB8AC3E}">
        <p14:creationId xmlns:p14="http://schemas.microsoft.com/office/powerpoint/2010/main" val="486225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F30CCAB-193A-4349-96E1-B32EA0E3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DEMO OUTPUT: BOOKS TO SCRAPE (20 PRODUCTS)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104F04-362D-47BA-B3A1-1D4123F2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516B88-C45C-406B-9D70-67B21434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00D3416-1137-41B8-BA7F-986F6F0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9C5F1C0-5C64-4C21-92BF-989A9117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334BE8-0A9D-4ADC-A05A-EDD2F2F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2331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100" b="1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Minimum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D7FBE5-0A75-4373-B8B8-6526BF23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233172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9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£13.99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6CE0577-BD0C-4E7D-8FCA-8BA743AB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417320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A1612BD-4190-416E-B412-6535085E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331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100" b="1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Maximum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069DEF-9030-4007-AA3D-4E3F97C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33172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9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£57.25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1B549D2-30A2-474E-9302-09E3704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4BE0C0-E72A-4A6E-B59D-45427AA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508760"/>
            <a:ext cx="2331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100" b="1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Average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484187-C314-452F-A275-8DADF623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737360"/>
            <a:ext cx="233172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9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£38.05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1BE574A-C3F0-4B60-8616-3502674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1417320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9FA12CA-0A86-4EF9-AA0D-B57F622A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508760"/>
            <a:ext cx="2331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100" b="1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Difference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BA06BE-EC1E-4389-96F9-9C322F11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737360"/>
            <a:ext cx="233172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9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£43.26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A90637-2540-4F2C-B91D-8544154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5394960" cy="326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6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Selected book prices (GBP)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D60DA97-0BD8-4CBA-B41A-FBBB513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83468"/>
            <a:ext cx="658368" cy="465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4F27E2E-260D-4B9B-A1F1-C258CAD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5440680"/>
            <a:ext cx="8961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Starving Hearts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5854BC1-D58E-436C-B29D-279B755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626293"/>
            <a:ext cx="109728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8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£13.99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2F7AAF5-60A9-4E05-99F4-859B5F76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768215"/>
            <a:ext cx="658368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D5A2959-343B-4261-B61F-DD14538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5440680"/>
            <a:ext cx="8961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Set Me Free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BE0301-38A4-4894-AFBF-752F64B4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1" y="4511040"/>
            <a:ext cx="109728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8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£17.46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F2D82FF-DB55-4869-8541-AB27D842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4661535"/>
            <a:ext cx="658368" cy="6877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4AD270F-1330-46D7-856A-43137B8E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5440680"/>
            <a:ext cx="8961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Shakespeare’s Sonnets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9DAD6F4-EA21-4586-A812-350A1136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404360"/>
            <a:ext cx="109728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8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£20.66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91DB6FB-E6C4-4DF9-9B69-3A4FE86F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444240"/>
            <a:ext cx="65836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FC5C63A-9558-4228-A3AE-82BBDF1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5440680"/>
            <a:ext cx="89611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Our Band Could Be…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EE2127E-11AA-4029-B196-4497CC4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3187065"/>
            <a:ext cx="109728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8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£57.25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0F5CEDB-35F5-4126-AD8B-B7E5946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514600"/>
            <a:ext cx="5212080" cy="326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6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Selected product records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AC65513-0F1C-4EA5-ABEC-23A18345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926080"/>
            <a:ext cx="141732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E8D847F-2A13-4F9B-BEE1-95BCC79D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990088"/>
            <a:ext cx="1362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Product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8EB081D-5020-4B7C-BE3C-6A2DF2B4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26080"/>
            <a:ext cx="123444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5BED54-9047-47EB-B60F-E3BE2338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990088"/>
            <a:ext cx="11795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Price (GBP)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D5BA2F0-570B-40DA-A3E6-CC25D4B6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26080"/>
            <a:ext cx="91440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4663354-269B-4518-BAFC-E734C7C8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2990088"/>
            <a:ext cx="8595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Rating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5FD0A13-8FF0-4846-A6B7-1A02785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26080"/>
            <a:ext cx="109728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9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88655FF-3AE4-4118-8018-18FD8507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2990088"/>
            <a:ext cx="104241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Availability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46DEB86-06A9-4132-90CA-D0CCA1A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01568"/>
            <a:ext cx="141732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FD618B4-F240-4A6B-BAEF-D667A5F6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465576"/>
            <a:ext cx="1362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Starving Hearts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3BF55B54-0842-453F-A407-51CD2BA2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401568"/>
            <a:ext cx="123444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CB4B7C7-A9D8-4A44-B675-9BAC1E2C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465576"/>
            <a:ext cx="11795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13.99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48DBB4A-387B-4430-BBC1-1F310833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1568"/>
            <a:ext cx="91440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9C52636-573D-4328-ADFF-0BAC9729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3465576"/>
            <a:ext cx="859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2.0 / 5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59D74650-9F53-47E3-8C65-32FF6BF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1568"/>
            <a:ext cx="109728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69A8271-5564-4796-BCBC-07E8FF37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465576"/>
            <a:ext cx="104241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In stock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4AEB2524-ACEC-431D-BBB9-B650A4B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77056"/>
            <a:ext cx="141732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99FAE57-FD36-46D7-BEE1-4818531F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941064"/>
            <a:ext cx="1362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Set Me Free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85A783BA-8627-4ECE-8686-F2955130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877056"/>
            <a:ext cx="123444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646191C5-B873-4FBB-AD44-D525A6E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941064"/>
            <a:ext cx="11795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17.46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D2E7B64D-8CC1-4D82-8B9E-96B64A18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77056"/>
            <a:ext cx="91440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761F83-85CB-4F4A-8AB8-9F87F18E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3941064"/>
            <a:ext cx="859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5.0 / 5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D859E991-0740-414C-82FE-41D2CAEA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77056"/>
            <a:ext cx="109728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64E77E3-FA26-4529-93A0-A87C160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41064"/>
            <a:ext cx="104241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In stock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DAE07D13-BB81-4225-826D-0AED7B8E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352544"/>
            <a:ext cx="141732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A42C4D3D-DC16-496C-B580-C3CD03C5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416552"/>
            <a:ext cx="1362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Shakespeare’s Sonnets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909D873A-5441-415A-B8FF-0031586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52544"/>
            <a:ext cx="123444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07DB10DD-9A94-4941-B428-861C431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416552"/>
            <a:ext cx="11795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20.66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CE22877A-E8B0-4D0E-97C7-0B701629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52544"/>
            <a:ext cx="91440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B711EC43-6B38-4920-A163-18D849A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4416552"/>
            <a:ext cx="859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4.0 / 5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EB899FE8-9AF0-47B0-8CC0-7C14170C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544"/>
            <a:ext cx="109728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C84F6C89-9A21-42E2-86DE-8E16F96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4416552"/>
            <a:ext cx="104241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In stock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C76A20A4-61A6-4262-A4F8-AD646900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828032"/>
            <a:ext cx="141732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107FED44-4FA5-4B27-BB15-39F15E63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92040"/>
            <a:ext cx="1362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Our Band Could Be…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0E66FDBD-53B9-4277-BC63-A5EE6AF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828032"/>
            <a:ext cx="123444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0502C048-62CB-466E-AD85-B69B1856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892040"/>
            <a:ext cx="11795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57.25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BB68E7F8-2EC2-4A38-8FDF-FE44CE88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28032"/>
            <a:ext cx="91440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7236B861-C6C7-43AA-8C0B-04DD641F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4892040"/>
            <a:ext cx="8595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3.0 / 5</a:t>
            </a: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C759F6A3-34F2-45DF-AB60-6AB34AF6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28032"/>
            <a:ext cx="1097280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2549F19F-D364-44D6-A9A6-B10F5A2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4892040"/>
            <a:ext cx="104241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9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In stock</a:t>
            </a:r>
          </a:p>
        </p:txBody>
      </p:sp>
    </p:spTree>
    <p:extLst>
      <p:ext uri="{BB962C8B-B14F-4D97-AF65-F5344CB8AC3E}">
        <p14:creationId xmlns:p14="http://schemas.microsoft.com/office/powerpoint/2010/main" val="8014077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65F450-4E8D-4FDB-BFAA-A449BA3D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REVIEW 2: CODE EXECUTION CHECKLIST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475DCC9-2636-4465-82BF-753C981E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Walkthrough of the tested PriceLens workflow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81B581-493C-45DC-92DB-0DD57D4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50208F-3C7D-470B-957F-376F33E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7F3675-77EB-4FC6-800F-F8FDDE2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9566D6-35D8-48F5-AA3A-DF40864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2560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92AC7EC-B087-4622-9866-4C71E132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64008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5EF89C-7FE9-4D45-8612-00E18F8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08760"/>
            <a:ext cx="23042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1. Install and run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C650081-8789-4F84-8337-27788188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56232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94F4E7-0B6B-48B9-9299-D592BD4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463040"/>
            <a:ext cx="7680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Install requirements.txt; run the CLI or Flask app.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6FDD385-A82A-4AAA-AE65-71F357A0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2560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4E12F7B-56B0-469A-B0AF-C2ADC456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64008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4D942A5-F163-4030-A120-7E92589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58568"/>
            <a:ext cx="23042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2. Collect products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1144FD-8A85-49FE-81E1-F8E72175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0604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527BAE4-4987-4EC4-B535-C166F8A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212848"/>
            <a:ext cx="7680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Use Books to Scrape or another public page permitted by robots.txt.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D60E485-65DB-433F-9137-3430AC6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16936"/>
            <a:ext cx="2560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5CAF9F7-F6B0-41D8-8C57-E6AC962B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16936"/>
            <a:ext cx="64008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741CC8-EA35-4DCA-B907-1FF6A80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08376"/>
            <a:ext cx="23042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3. Clean records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6506E7E-1976-4425-8C93-E029538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55848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B6F397-DBB8-431D-BF02-E56B3792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352" y="2930483"/>
            <a:ext cx="7680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Inspect normalized prices, missing fields and duplicate removal.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42658E5-652E-428D-A623-E7CF7C4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66744"/>
            <a:ext cx="2560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CD66F20-7B36-42DC-916E-B8F77C87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66744"/>
            <a:ext cx="64008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FD9D639-263E-4305-8A7F-2D55F38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58183"/>
            <a:ext cx="23042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4. Analyze prices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4437C77-E517-4BD1-8ABC-24DFB8F6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05656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B1B3D1F-BB5C-4C8B-80A4-B971F8E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712463"/>
            <a:ext cx="7680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Review product count, min, max, average, median, range and insights.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0672DA9-FECF-4ADF-8AFB-242DCBD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16552"/>
            <a:ext cx="2560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894EA78-85BB-44C3-BA9B-2391EF2A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16552"/>
            <a:ext cx="64008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E61182C-8A3D-4249-A248-41ABFE0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07992"/>
            <a:ext cx="23042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5. Explore charts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CBB5011-8435-45DD-9647-DA289EAB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855464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FDA2EA5-9D1D-4F3A-BFB0-1D4DE2C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462272"/>
            <a:ext cx="7680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Generate three CLI charts and inspect four interactive web charts.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8C14BC39-E242-4A06-A6F3-10BBC1C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56032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C6CC353-7800-4B26-88E4-92E56EA4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64008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277DE5D-9D1B-49A3-B36F-C6B392F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257800"/>
            <a:ext cx="23042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6. Review saved results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6D35E3-6B1F-4A12-A7F9-F960508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605272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7A350C4-4AF1-400E-825C-F2E5A23C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212080"/>
            <a:ext cx="7680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Open product details and history; verify profile and sign-out.</a:t>
            </a:r>
          </a:p>
        </p:txBody>
      </p:sp>
    </p:spTree>
    <p:extLst>
      <p:ext uri="{BB962C8B-B14F-4D97-AF65-F5344CB8AC3E}">
        <p14:creationId xmlns:p14="http://schemas.microsoft.com/office/powerpoint/2010/main" val="1417995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874EDE-7ABA-4E04-B69E-10FE627E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2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CONCLUSION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19BDA2-774C-4DCE-9B78-64885E58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1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Current product-analysis workflow and limits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541D969-D9EE-45F9-860B-F75A0E27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734E5C-297D-4B0D-A410-97C7154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DATA ANALYSIS ESSENTIALS | REVIEW 2 | IMPLEMENTATION &amp; LOC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65FFEB-C8E7-4EA5-9D40-2D6A733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800" b="0">
                <a:solidFill>
                  <a:srgbClr val="656F7A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011FDF7-37BE-475C-9C18-9AAEE793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607040" cy="600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7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Public URL → Access checks → Extraction → Cleaning → Price metrics → Charts and SQLite history → Flask dashboard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9E882AF-AEC9-4C4F-852D-137F8418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34290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1B267D-8DCE-4CC8-AE96-69DC60B6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02F1B6-A637-4B92-9557-F787C19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42316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Data cleaning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75A887B-BC35-4CE9-8338-BCE1FCA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770632"/>
            <a:ext cx="31546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Pandas normalizes product prices and ratings; invalid prices and duplicate records are removed.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E9CD32D-7462-4A40-B5B2-4AE4A2DE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31720"/>
            <a:ext cx="34290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7B55A3B-313A-4C3C-A512-3FE72143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3172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AF93BE9-EB4D-44BE-A18E-F8088EA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42316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Price insights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2649E7-F396-4316-9C32-DF33EBB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770632"/>
            <a:ext cx="31546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Minimum, maximum, average, median and range summarize one comparable currency set.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D5BEA7F-12AE-42DA-9121-E5C4E87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34290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solidFill>
              <a:srgbClr val="DC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9101383-59FB-4F67-A204-D4265F59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A742CA-A52C-4EE5-BD0A-1CD4E6D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42316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500" b="1">
                <a:solidFill>
                  <a:srgbClr val="182B49"/>
                </a:solidFill>
                <a:latin typeface="Aptos"/>
                <a:ea typeface="Aptos"/>
                <a:cs typeface="Aptos"/>
              </a:defRPr>
            </a:pPr>
            <a:r>
              <a:t>Web reporting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6F282C-93EB-4D0A-A6F0-D539A02E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770632"/>
            <a:ext cx="3154680" cy="478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3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Four interactive charts, product details and account-scoped analysis history.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2927938-C0B3-4C97-8709-61DC4886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149840" cy="823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t>• Sample figures on slide 13 come from the saved 20-product Books to Scrape dataset.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2A3038"/>
                </a:solidFill>
                <a:latin typeface="Aptos"/>
                <a:ea typeface="Aptos"/>
                <a:cs typeface="Aptos"/>
              </a:rPr>
              <a:t>• Price history across runs is not charted as a trend.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400" b="0">
                <a:solidFill>
                  <a:srgbClr val="2A303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2A3038"/>
                </a:solidFill>
                <a:latin typeface="Aptos"/>
                <a:ea typeface="Aptos"/>
                <a:cs typeface="Aptos"/>
              </a:rPr>
              <a:t>• Respect robots.txt; stop at blocks, login pages and CAPTCHAs.</a:t>
            </a:r>
          </a:p>
        </p:txBody>
      </p:sp>
    </p:spTree>
    <p:extLst>
      <p:ext uri="{BB962C8B-B14F-4D97-AF65-F5344CB8AC3E}">
        <p14:creationId xmlns:p14="http://schemas.microsoft.com/office/powerpoint/2010/main" val="733121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8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71A39F-C5C2-4771-AB77-2CAC1B5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1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4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749666-3233-4DBD-9749-D1CF897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024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3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THANK YOU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DA276D-B013-4369-87DA-F125255F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71800"/>
            <a:ext cx="9966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100" b="0">
                <a:solidFill>
                  <a:srgbClr val="C2E0E4"/>
                </a:solidFill>
                <a:latin typeface="Aptos"/>
                <a:ea typeface="Aptos"/>
                <a:cs typeface="Aptos"/>
              </a:defRPr>
            </a:pPr>
            <a:r>
              <a:t>Web Scraping and Product Price Analysis System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FF0420-E6ED-4F22-A768-AD57763B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 bIns="36576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  <a:defRPr sz="900" b="0">
                <a:solidFill>
                  <a:srgbClr val="BECCDA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60937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2026-10-09T16:49:54.5720000Z</dcterms:created>
  <dcterms:modified xsi:type="dcterms:W3CDTF">2026-10-09T16:49:54.5720000Z</dcterms:modified>
</coreProperties>
</file>